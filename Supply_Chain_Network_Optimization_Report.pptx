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1188720"/>
            <a:ext cx="109728" cy="109728"/>
          </a:xfrm>
          <a:prstGeom prst="ellipse">
            <a:avLst/>
          </a:prstGeom>
          <a:solidFill>
            <a:srgbClr val="0F8B8D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94560" y="1828800"/>
            <a:ext cx="109728" cy="109728"/>
          </a:xfrm>
          <a:prstGeom prst="ellipse">
            <a:avLst/>
          </a:prstGeom>
          <a:solidFill>
            <a:srgbClr val="0F8B8D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2926080"/>
            <a:ext cx="109728" cy="109728"/>
          </a:xfrm>
          <a:prstGeom prst="ellipse">
            <a:avLst/>
          </a:prstGeom>
          <a:solidFill>
            <a:srgbClr val="0F8B8D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291840" y="1005840"/>
            <a:ext cx="109728" cy="109728"/>
          </a:xfrm>
          <a:prstGeom prst="ellipse">
            <a:avLst/>
          </a:prstGeom>
          <a:solidFill>
            <a:srgbClr val="0F8B8D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23360" y="2377440"/>
            <a:ext cx="109728" cy="109728"/>
          </a:xfrm>
          <a:prstGeom prst="ellipse">
            <a:avLst/>
          </a:prstGeom>
          <a:solidFill>
            <a:srgbClr val="0F8B8D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0" y="1371600"/>
            <a:ext cx="109728" cy="109728"/>
          </a:xfrm>
          <a:prstGeom prst="ellipse">
            <a:avLst/>
          </a:prstGeom>
          <a:solidFill>
            <a:srgbClr val="0F8B8D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875520" y="2377440"/>
            <a:ext cx="109728" cy="109728"/>
          </a:xfrm>
          <a:prstGeom prst="ellipse">
            <a:avLst/>
          </a:prstGeom>
          <a:solidFill>
            <a:srgbClr val="0F8B8D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155680" y="2926080"/>
            <a:ext cx="109728" cy="109728"/>
          </a:xfrm>
          <a:prstGeom prst="ellipse">
            <a:avLst/>
          </a:prstGeom>
          <a:solidFill>
            <a:srgbClr val="0F8B8D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241280" y="822960"/>
            <a:ext cx="109728" cy="109728"/>
          </a:xfrm>
          <a:prstGeom prst="ellipse">
            <a:avLst/>
          </a:prstGeom>
          <a:solidFill>
            <a:srgbClr val="0F8B8D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521440" y="1920240"/>
            <a:ext cx="109728" cy="109728"/>
          </a:xfrm>
          <a:prstGeom prst="ellipse">
            <a:avLst/>
          </a:prstGeom>
          <a:solidFill>
            <a:srgbClr val="0F8B8D">
              <a:alpha val="6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SUPPLY CHAIN ANALYTICS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51460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Multi-Echelon Supply Chain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Optimization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2960" y="42519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C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Python MILP model for facility location &amp; inventory routing — with a stakeholder-ready financial business case (NPV, ROI, sensitivity analysis)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166360"/>
            <a:ext cx="2926080" cy="0"/>
          </a:xfrm>
          <a:prstGeom prst="line">
            <a:avLst/>
          </a:prstGeom>
          <a:noFill/>
          <a:ln w="25400">
            <a:solidFill>
              <a:srgbClr val="0F8B8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349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Facility Location  ·  Inventory Routing  ·  NPV &amp; ROI  ·  Sensitivity Analysis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re-optimized network cuts logistics cost 17.8% and clears its investment hurdle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1F5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737360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SAVINGS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201168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$2.76M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3232" y="26974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17.8% below legacy network cost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6002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1F5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47872" y="1737360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5-YEAR NPV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547872" y="201168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$0.55M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47872" y="26974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 9% WACC, after tax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1F5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82512" y="1737360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82512" y="201168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6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11.5%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82512" y="26974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9% cost of capital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52560" y="160020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EF1F5"/>
          </a:solidFill>
          <a:ln/>
          <a:effectLst>
            <a:outerShdw sx="100000" sy="100000" kx="0" ky="0" algn="bl" rotWithShape="0" blurRad="76200" dist="25400" dir="5400000">
              <a:srgbClr val="9CA3AF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17152" y="1737360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PAYBACK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217152" y="201168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217152" y="26974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a 5-year horizon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3602736"/>
            <a:ext cx="82296" cy="82296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44728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MILP model jointly optimizes which distribution centers to open and how to route product + inventory through them — not just a network-design exercise, but an integrated location + routing solution.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" y="4443984"/>
            <a:ext cx="82296" cy="82296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288536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Savings come primarily from better facility siting and true landed-cost customer assignment, not from cutting headcount or footprint — an easier, lower-risk story to take to stakeholders.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" y="5285232"/>
            <a:ext cx="82296" cy="82296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129784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 analysis shows the business case is most exposed to demand-forecast accuracy and capex execution, and comparatively insensitive to discount-rate movement.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Multi-Echelon Supply Chain Network Optimization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network that grew city-by-city, not by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mid-market distribution network expanded organically as regions came online, rather than being periodically re-evaluated against current demand and freight-lane economics. This creates three quantifiable inefficiencies: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EEF1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97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C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33375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Misaligned Footprint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Legacy DCs sit where regions happened to be added, not where today's demand and freight lanes make them cheapest to operate.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46888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697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0" y="33375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Sub-Optimal Assignment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8862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Customers are routed to the nearest facility by distance alone, ignoring handling cost and inbound plant-to-DC economics.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246888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EEF1F5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697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7C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366760" y="33375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Un-Pooled Inventory Risk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66760" y="38862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DC carries safety stock independently, forfeiting the statistical risk-pooling benefit a well-designed network provides.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Multi-Echelon Supply Chain Network Optimization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multi-echelon facility-location &amp; inventory-routing MILP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240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(fixed)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34640" y="169164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0F8B8D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16916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DC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278892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8A94A6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27889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DC 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2240280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E8603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2402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77440" y="2560320"/>
            <a:ext cx="457200" cy="-320040"/>
          </a:xfrm>
          <a:prstGeom prst="line">
            <a:avLst/>
          </a:prstGeom>
          <a:noFill/>
          <a:ln w="1905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377440" y="2560320"/>
            <a:ext cx="457200" cy="777240"/>
          </a:xfrm>
          <a:prstGeom prst="line">
            <a:avLst/>
          </a:prstGeom>
          <a:noFill/>
          <a:ln w="1905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0" y="2011680"/>
            <a:ext cx="457200" cy="548640"/>
          </a:xfrm>
          <a:prstGeom prst="line">
            <a:avLst/>
          </a:prstGeom>
          <a:noFill/>
          <a:ln w="1905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0" y="3108960"/>
            <a:ext cx="457200" cy="-548640"/>
          </a:xfrm>
          <a:prstGeom prst="line">
            <a:avLst/>
          </a:prstGeom>
          <a:noFill/>
          <a:ln w="19050">
            <a:solidFill>
              <a:srgbClr val="8A94A6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274320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open[i] ∈ {0,1}  —  facility-open decision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6656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18745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Minimize:  facility fixed cost  +  inbound transport  +  outbound transport  +  DC handling  +  cycle-stock (EOQ) cost  +  safety-stock cost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76656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3063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Demand satisfaction at every customer zone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66560" y="339242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DC and plant capacity limits (only if open)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766560" y="37216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Flow conservation: inbound = outbound at each DC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766560" y="40507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  Minimum open-DC count (service resilience rule)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EF1F5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Inventory-Routing Linearization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50292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EOQ cycle-stock cost is priced at each DC's design throughput; safety stock scales linearly with realized flow. This keeps the network's classic risk-pooling trade-off — fewer, larger DCs need less aggregate safety stock — while remaining an exact, fast-solving MILP (PuLP + CBC, open-source, no license required).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Multi-Echelon Supply Chain Network Optimization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realistic, ready-to-swap synthetic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proprietary company data was available for this exercise, so the network below was synthesized to be realistic in scale, geography and cost structure. Every script reads from these files — swapping in real ERP/TMS extracts requires no change to the model logic.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6492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88720"/>
                <a:gridCol w="24688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Dataset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Records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Key Fields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Plants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Capacity, unit production cost, location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Candidate DCs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8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Capacity, fixed cost, handling cost, location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Customer demand zones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24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Annual demand, growth rate, service priority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Transport cost matrices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264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Distance-derived $/unit, plant→DC and DC→customer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Financial parameters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10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WACC, holding cost rate, tax rate, capex, EOQ inputs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2331720"/>
            <a:ext cx="649224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331720"/>
            <a:ext cx="2834640" cy="4114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383280" y="2331720"/>
            <a:ext cx="1188720" cy="4114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0" y="2331720"/>
            <a:ext cx="2468880" cy="411480"/>
          </a:xfrm>
          <a:prstGeom prst="rect">
            <a:avLst/>
          </a:prstGeom>
          <a:noFill/>
          <a:ln/>
        </p:spPr>
        <p:txBody>
          <a:bodyPr wrap="square" lIns="73152" tIns="73152" rIns="73152" bIns="73152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Fields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406640" y="2331720"/>
            <a:ext cx="4206240" cy="3017520"/>
          </a:xfrm>
          <a:prstGeom prst="roundRect">
            <a:avLst>
              <a:gd name="adj" fmla="val 2424"/>
            </a:avLst>
          </a:prstGeom>
          <a:solidFill>
            <a:srgbClr val="1B2A4A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ANNUAL DEMAND MODELED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680960" y="28803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660,449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768096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units / year across 24 U.S. metro demand zones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680960" y="4114800"/>
            <a:ext cx="3566160" cy="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0" y="4297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C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Includes NYC, LA, Chicago, Houston, Phoenix and 19 other major U.S. metros, spanning all major freight corridors.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Multi-Echelon Supply Chain Network Optimization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selects 5 of 8 candidate DCs to serve the network</a:t>
            </a:r>
            <a:endParaRPr lang="en-US" sz="2800" dirty="0"/>
          </a:p>
        </p:txBody>
      </p:sp>
      <p:pic>
        <p:nvPicPr>
          <p:cNvPr id="4" name="Image 0" descr="/home/claude/project/charts/network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63040"/>
            <a:ext cx="10149840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Multi-Echelon Supply Chain Network Optimization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17.8% lower annual logistics cost vs. the legacy network</a:t>
            </a:r>
            <a:endParaRPr lang="en-US" sz="2800" dirty="0"/>
          </a:p>
        </p:txBody>
      </p:sp>
      <p:pic>
        <p:nvPicPr>
          <p:cNvPr id="4" name="Image 0" descr="/home/claude/project/charts/cost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417320"/>
            <a:ext cx="603504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9520" y="16916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driving the gap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635240" y="2221992"/>
            <a:ext cx="73152" cy="73152"/>
          </a:xfrm>
          <a:prstGeom prst="ellipse">
            <a:avLst/>
          </a:prstGeom>
          <a:solidFill>
            <a:srgbClr val="E8603C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0" y="209397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Re-sited DCs cut average shipping distance to customers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635240" y="2907792"/>
            <a:ext cx="73152" cy="73152"/>
          </a:xfrm>
          <a:prstGeom prst="ellipse">
            <a:avLst/>
          </a:prstGeom>
          <a:solidFill>
            <a:srgbClr val="E8603C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0" y="277977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True landed-cost assignment replaces nearest-distance heuristics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635240" y="3593592"/>
            <a:ext cx="73152" cy="73152"/>
          </a:xfrm>
          <a:prstGeom prst="ellipse">
            <a:avLst/>
          </a:prstGeom>
          <a:solidFill>
            <a:srgbClr val="E8603C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0" y="346557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Consolidated inventory pooling lowers aggregate safety stock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35240" y="4279392"/>
            <a:ext cx="73152" cy="73152"/>
          </a:xfrm>
          <a:prstGeom prst="ellipse">
            <a:avLst/>
          </a:prstGeom>
          <a:solidFill>
            <a:srgbClr val="E8603C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0" y="415137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Facility count held constant (5) — gains are from siting, not cuts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Multi-Echelon Supply Chain Network Optimization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Facility fixed cost is 81% of the optimized cost stack</a:t>
            </a:r>
            <a:endParaRPr lang="en-US" sz="2800" dirty="0"/>
          </a:p>
        </p:txBody>
      </p:sp>
      <p:pic>
        <p:nvPicPr>
          <p:cNvPr id="4" name="Image 0" descr="/home/claude/project/charts/cost_break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1051560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Multi-Echelon Supply Chain Network Optimization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BUSINESS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clears its hurdle rate with a Year-4 payback</a:t>
            </a:r>
            <a:endParaRPr lang="en-US" sz="2800" dirty="0"/>
          </a:p>
        </p:txBody>
      </p:sp>
      <p:pic>
        <p:nvPicPr>
          <p:cNvPr id="4" name="Image 0" descr="/home/claude/project/charts/cash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6492240" cy="502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1645920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EEF1F5"/>
          </a:solidFill>
          <a:ln/>
        </p:spPr>
      </p:sp>
      <p:sp>
        <p:nvSpPr>
          <p:cNvPr id="6" name="Text 3"/>
          <p:cNvSpPr/>
          <p:nvPr/>
        </p:nvSpPr>
        <p:spPr>
          <a:xfrm>
            <a:off x="7635240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Capex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35240" y="19933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$8.4M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692640" y="199339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DC transitions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452360" y="2788920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EEF1F5"/>
          </a:solidFill>
          <a:ln/>
        </p:spPr>
      </p:sp>
      <p:sp>
        <p:nvSpPr>
          <p:cNvPr id="10" name="Text 7"/>
          <p:cNvSpPr/>
          <p:nvPr/>
        </p:nvSpPr>
        <p:spPr>
          <a:xfrm>
            <a:off x="7635240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5-yr NPV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635240" y="31363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$0.55M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92640" y="313639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 9% WACC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452360" y="3931920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EEF1F5"/>
          </a:solidFill>
          <a:ln/>
        </p:spPr>
      </p:sp>
      <p:sp>
        <p:nvSpPr>
          <p:cNvPr id="14" name="Text 11"/>
          <p:cNvSpPr/>
          <p:nvPr/>
        </p:nvSpPr>
        <p:spPr>
          <a:xfrm>
            <a:off x="7635240" y="4023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635240" y="42793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11.5%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692640" y="427939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9% hurdle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452360" y="5074920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EEF1F5"/>
          </a:solidFill>
          <a:ln/>
        </p:spPr>
      </p:sp>
      <p:sp>
        <p:nvSpPr>
          <p:cNvPr id="18" name="Text 15"/>
          <p:cNvSpPr/>
          <p:nvPr/>
        </p:nvSpPr>
        <p:spPr>
          <a:xfrm>
            <a:off x="7635240" y="5166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ROI (5-yr)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635240" y="542239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692640" y="542239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cumulative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Multi-Echelon Supply Chain Network Optimization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BUSINESS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NPV is most sensitive to demand growth, least to discount rate</a:t>
            </a:r>
            <a:endParaRPr lang="en-US" sz="2800" dirty="0"/>
          </a:p>
        </p:txBody>
      </p:sp>
      <p:pic>
        <p:nvPicPr>
          <p:cNvPr id="4" name="Image 0" descr="/home/claude/project/charts/torna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10332720" cy="5074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Multi-Echelon Supply Chain Network Optimization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GROWTH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 &amp; recommended actions for stakeholders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24365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0136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31343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Re-site, don't just resize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770632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Savings come from better placement, not facility cuts — a lower-risk story internally.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24365C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80136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92240" y="231343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Fixed cost is the lever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770632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81% of cost is facility fixed cost. Prioritize lease-timing decisions over freight-rate negotiation.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24365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330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464515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the capex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102352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 the two highest-value DC transitions first to pull the 4-year payback forward.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931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2436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13308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0" y="4645152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De-risk the demand forecast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5102352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7CE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NPV is most sensitive to demand growth — invest in a rolling S&amp;OP feed before final sign-off.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Multi-Echelon Supply Chain Network Optimization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B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model does well, and where it should go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EEF1F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212080" cy="594360"/>
          </a:xfrm>
          <a:prstGeom prst="rect">
            <a:avLst/>
          </a:prstGeom>
          <a:solidFill>
            <a:srgbClr val="8A94A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Scope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633472"/>
            <a:ext cx="73152" cy="73152"/>
          </a:xfrm>
          <a:prstGeom prst="ellipse">
            <a:avLst/>
          </a:prstGeom>
          <a:solidFill>
            <a:srgbClr val="8A94A6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48716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product, deterministic demand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593592"/>
            <a:ext cx="73152" cy="73152"/>
          </a:xfrm>
          <a:prstGeom prst="ellipse">
            <a:avLst/>
          </a:prstGeom>
          <a:solidFill>
            <a:srgbClr val="8A94A6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44728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Static, single-period network design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553712"/>
            <a:ext cx="73152" cy="73152"/>
          </a:xfrm>
          <a:prstGeom prst="ellipse">
            <a:avLst/>
          </a:prstGeom>
          <a:solidFill>
            <a:srgbClr val="8A94A6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40740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dataset (illustrates methodology)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169164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EEF1F5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1691640"/>
            <a:ext cx="5212080" cy="594360"/>
          </a:xfrm>
          <a:prstGeom prst="rect">
            <a:avLst/>
          </a:prstGeom>
          <a:solidFill>
            <a:srgbClr val="0F8B8D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6916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Extensions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0" y="2633472"/>
            <a:ext cx="73152" cy="73152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248716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Multi-SKU model with stochastic demand &amp; chance constraints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0" y="3593592"/>
            <a:ext cx="73152" cy="73152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344728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Rolling multi-period model to phase DC transitions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0" y="4553712"/>
            <a:ext cx="73152" cy="73152"/>
          </a:xfrm>
          <a:prstGeom prst="ellipse">
            <a:avLst/>
          </a:prstGeom>
          <a:solidFill>
            <a:srgbClr val="0F8B8D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440740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Swap in live ERP/TMS extracts — schema is ready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Multi-Echelon Supply Chain Network Optimization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2026-08-15T00:56:50Z</dcterms:created>
  <dcterms:modified xsi:type="dcterms:W3CDTF">2026-08-15T00:56:50Z</dcterms:modified>
</cp:coreProperties>
</file>